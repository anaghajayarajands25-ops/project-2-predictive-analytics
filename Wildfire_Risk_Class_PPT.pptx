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Work Sans Semi-Bold" charset="1" panose="00000000000000000000"/>
      <p:regular r:id="rId20"/>
    </p:embeddedFont>
    <p:embeddedFont>
      <p:font typeface="IBM Plex Sans Arabic" charset="1" panose="020B0503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6298" y="2796471"/>
            <a:ext cx="14006964" cy="248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8"/>
              </a:lnSpc>
            </a:pPr>
            <a:r>
              <a:rPr lang="en-US" b="true" sz="9410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WILDFIRE</a:t>
            </a:r>
            <a:r>
              <a:rPr lang="en-US" b="true" sz="9410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RISK CLASSIFICATION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05946" y="5630818"/>
            <a:ext cx="9187666" cy="40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2"/>
              </a:lnSpc>
              <a:spcBef>
                <a:spcPct val="0"/>
              </a:spcBef>
            </a:pPr>
            <a:r>
              <a:rPr lang="en-US" sz="31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Using ML Models - SVM, Random Forest &amp; XGBoost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0229" y="7217727"/>
            <a:ext cx="6192446" cy="185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Presented By:</a:t>
            </a:r>
          </a:p>
          <a:p>
            <a:pPr algn="l">
              <a:lnSpc>
                <a:spcPts val="3037"/>
              </a:lnSpc>
            </a:pP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 </a:t>
            </a: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Anagha Jayarajan (253201)</a:t>
            </a:r>
          </a:p>
          <a:p>
            <a:pPr algn="l">
              <a:lnSpc>
                <a:spcPts val="3037"/>
              </a:lnSpc>
            </a:pP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 </a:t>
            </a: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 R Lekshmi Priya (253011)</a:t>
            </a:r>
          </a:p>
          <a:p>
            <a:pPr algn="l">
              <a:lnSpc>
                <a:spcPts val="3037"/>
              </a:lnSpc>
            </a:pP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 </a:t>
            </a:r>
            <a:r>
              <a:rPr lang="en-US" sz="2429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Akshay B S (253014)</a:t>
            </a:r>
          </a:p>
          <a:p>
            <a:pPr algn="l" marL="0" indent="0" lvl="0">
              <a:lnSpc>
                <a:spcPts val="2259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>
            <a:off x="1282111" y="8720275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90776" y="1276949"/>
            <a:ext cx="12306448" cy="89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1"/>
              </a:lnSpc>
            </a:pPr>
            <a:r>
              <a:rPr lang="en-US" b="true" sz="6599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3793" y="2828953"/>
            <a:ext cx="14473808" cy="570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</a:p>
          <a:p>
            <a:pPr algn="l" marL="620513" indent="-310256" lvl="1">
              <a:lnSpc>
                <a:spcPts val="3218"/>
              </a:lnSpc>
              <a:buFont typeface="Arial"/>
              <a:buChar char="•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Predict wildfire risk level for a given location and environmental conditions.</a:t>
            </a:r>
          </a:p>
          <a:p>
            <a:pPr algn="l">
              <a:lnSpc>
                <a:spcPts val="3218"/>
              </a:lnSpc>
            </a:pPr>
          </a:p>
          <a:p>
            <a:pPr algn="l" marL="620513" indent="-310256" lvl="1">
              <a:lnSpc>
                <a:spcPts val="3218"/>
              </a:lnSpc>
              <a:buFont typeface="Arial"/>
              <a:buChar char="•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Target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sses:</a:t>
            </a:r>
          </a:p>
          <a:p>
            <a:pPr algn="l" marL="1241026" indent="-413675" lvl="2">
              <a:lnSpc>
                <a:spcPts val="3218"/>
              </a:lnSpc>
              <a:buFont typeface="Arial"/>
              <a:buChar char="⚬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Low (🟢): M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nimal f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 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tiv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ty; low FRP 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 beni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mete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oro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ogical cond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ions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.</a:t>
            </a:r>
          </a:p>
          <a:p>
            <a:pPr algn="l" marL="1241026" indent="-413675" lvl="2">
              <a:lnSpc>
                <a:spcPts val="3218"/>
              </a:lnSpc>
              <a:buFont typeface="Arial"/>
              <a:buChar char="⚬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Med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iu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 (🟡): Moderat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diti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potenti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 for fi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gnition/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pread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.</a:t>
            </a:r>
          </a:p>
          <a:p>
            <a:pPr algn="l" marL="1241026" indent="-413675" lvl="2">
              <a:lnSpc>
                <a:spcPts val="3218"/>
              </a:lnSpc>
              <a:buFont typeface="Arial"/>
              <a:buChar char="⚬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High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(🔴): Elevated fi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d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nger — high FRP, high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mperat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re, low hum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dity,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tr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ng win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s.</a:t>
            </a:r>
          </a:p>
          <a:p>
            <a:pPr algn="l">
              <a:lnSpc>
                <a:spcPts val="3218"/>
              </a:lnSpc>
            </a:pPr>
          </a:p>
          <a:p>
            <a:pPr algn="l" marL="620513" indent="-310256" lvl="1">
              <a:lnSpc>
                <a:spcPts val="3218"/>
              </a:lnSpc>
              <a:buFont typeface="Arial"/>
              <a:buChar char="•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Success criteria:</a:t>
            </a:r>
          </a:p>
          <a:p>
            <a:pPr algn="l" marL="1241026" indent="-413675" lvl="2">
              <a:lnSpc>
                <a:spcPts val="3218"/>
              </a:lnSpc>
              <a:buFont typeface="Arial"/>
              <a:buChar char="⚬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High F1-macro and balanced preci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sion/recal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cross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sses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(minimize misse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high-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risk areas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lse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high-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arms).</a:t>
            </a:r>
          </a:p>
          <a:p>
            <a:pPr algn="l" marL="1241026" indent="-413675" lvl="2">
              <a:lnSpc>
                <a:spcPts val="3218"/>
              </a:lnSpc>
              <a:buFont typeface="Arial"/>
              <a:buChar char="⚬"/>
            </a:pP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Rob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perform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nce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 spatia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ly sep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rated te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(gener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liz</a:t>
            </a:r>
            <a:r>
              <a:rPr lang="en-US" sz="287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 to new regions).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7013" y="1038526"/>
            <a:ext cx="12190106" cy="8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DATASET — NASA FIRMS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2718" y="2154297"/>
            <a:ext cx="14522565" cy="740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6"/>
              </a:lnSpc>
            </a:pPr>
          </a:p>
          <a:p>
            <a:pPr algn="l" marL="544926" indent="-272463" lvl="1">
              <a:lnSpc>
                <a:spcPts val="2826"/>
              </a:lnSpc>
              <a:buFont typeface="Arial"/>
              <a:buChar char="•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ce: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NASA FIRMS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(F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I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rm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ation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sou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ce Ma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age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ment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System) — pub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ic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ve-f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sa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lli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(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MODIS/VIIRS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.</a:t>
            </a:r>
          </a:p>
          <a:p>
            <a:pPr algn="l">
              <a:lnSpc>
                <a:spcPts val="2826"/>
              </a:lnSpc>
            </a:pPr>
          </a:p>
          <a:p>
            <a:pPr algn="l" marL="544926" indent="-272463" lvl="1">
              <a:lnSpc>
                <a:spcPts val="2826"/>
              </a:lnSpc>
              <a:buFont typeface="Arial"/>
              <a:buChar char="•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Data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Types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ll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-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deri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ved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+ anc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llar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eo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ro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lo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ical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var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able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s.</a:t>
            </a:r>
          </a:p>
          <a:p>
            <a:pPr algn="l">
              <a:lnSpc>
                <a:spcPts val="2826"/>
              </a:lnSpc>
            </a:pPr>
          </a:p>
          <a:p>
            <a:pPr algn="l" marL="544926" indent="-272463" lvl="1">
              <a:lnSpc>
                <a:spcPts val="2826"/>
              </a:lnSpc>
              <a:buFont typeface="Arial"/>
              <a:buChar char="•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Key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Features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used in this project: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Spatial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 Latitude, Longitude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Satellite-derived: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Brightness,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Brightness_T31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, Scan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,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Track,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FRP (Fire Radiative Power)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Detection: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Confidence, Day/Night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indicator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,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Detection time (timestamp)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Meteorological / Environmental: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Temperature, Humidity, Wind Speed, Drought Index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(where available)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Metadata: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or,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quis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ion tim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</a:p>
          <a:p>
            <a:pPr algn="l">
              <a:lnSpc>
                <a:spcPts val="2826"/>
              </a:lnSpc>
            </a:pPr>
          </a:p>
          <a:p>
            <a:pPr algn="l" marL="544926" indent="-272463" lvl="1">
              <a:lnSpc>
                <a:spcPts val="2826"/>
              </a:lnSpc>
              <a:buFont typeface="Arial"/>
              <a:buChar char="•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age in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p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roj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ct: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Basis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feature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ma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trix 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 target lab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 SVM, Ra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dom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t, and XGBoost</a:t>
            </a:r>
          </a:p>
          <a:p>
            <a:pPr algn="l" marL="1089852" indent="-363284" lvl="2">
              <a:lnSpc>
                <a:spcPts val="2826"/>
              </a:lnSpc>
              <a:buFont typeface="Arial"/>
              <a:buChar char="⚬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patial sp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us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ed 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 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valua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ographic</a:t>
            </a:r>
            <a:r>
              <a:rPr lang="en-US" sz="2523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generaliz</a:t>
            </a: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ation</a:t>
            </a:r>
          </a:p>
          <a:p>
            <a:pPr algn="l">
              <a:lnSpc>
                <a:spcPts val="2826"/>
              </a:lnSpc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</a:t>
            </a:r>
          </a:p>
          <a:p>
            <a:pPr algn="l" marL="544926" indent="-272463" lvl="1">
              <a:lnSpc>
                <a:spcPts val="2826"/>
              </a:lnSpc>
              <a:buFont typeface="Arial"/>
              <a:buChar char="•"/>
            </a:pPr>
            <a:r>
              <a:rPr lang="en-US" sz="2523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Key EDA takeaway: FRP and meteorological variables are primary predictors; spatial clustering and class imbalance require careful splitting and weighting.</a:t>
            </a:r>
          </a:p>
          <a:p>
            <a:pPr algn="l">
              <a:lnSpc>
                <a:spcPts val="282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48947" y="1114011"/>
            <a:ext cx="12190106" cy="17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PREPROCESSING &amp; FEATURE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5728" y="3155505"/>
            <a:ext cx="13299063" cy="621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</a:p>
          <a:p>
            <a:pPr algn="l" marL="590873" indent="-295437" lvl="1">
              <a:lnSpc>
                <a:spcPts val="3065"/>
              </a:lnSpc>
              <a:buFont typeface="Arial"/>
              <a:buChar char="•"/>
            </a:pP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ata cleaning: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Standardize column names and par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timestamps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Remo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ve d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pli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s,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inv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lid coordi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na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tes, and extr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eme outliers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Convert 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numeric-like strings to numeric t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pe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</a:p>
          <a:p>
            <a:pPr algn="l">
              <a:lnSpc>
                <a:spcPts val="3065"/>
              </a:lnSpc>
            </a:pPr>
          </a:p>
          <a:p>
            <a:pPr algn="l" marL="590873" indent="-295437" lvl="1">
              <a:lnSpc>
                <a:spcPts val="3065"/>
              </a:lnSpc>
              <a:buFont typeface="Arial"/>
              <a:buChar char="•"/>
            </a:pP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Missing value handling: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Use SimpleImpu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 (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edian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mer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ic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,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most_frequent for ca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tegori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cal)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Drop rows wit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 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irrecove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rable m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issing coor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dinat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 time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stamps</a:t>
            </a:r>
          </a:p>
          <a:p>
            <a:pPr algn="l">
              <a:lnSpc>
                <a:spcPts val="3065"/>
              </a:lnSpc>
            </a:pPr>
          </a:p>
          <a:p>
            <a:pPr algn="l" marL="590873" indent="-295437" lvl="1">
              <a:lnSpc>
                <a:spcPts val="3065"/>
              </a:lnSpc>
              <a:buFont typeface="Arial"/>
              <a:buChar char="•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Encoding &amp; scaling: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One-hot encode categorical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ags (day/n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gh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t, se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nsor)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Label-enco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t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arget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cl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asses</a:t>
            </a:r>
          </a:p>
          <a:p>
            <a:pPr algn="l" marL="1181747" indent="-393916" lvl="2">
              <a:lnSpc>
                <a:spcPts val="3065"/>
              </a:lnSpc>
              <a:buFont typeface="Arial"/>
              <a:buChar char="⚬"/>
            </a:pP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Scale numeric input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(S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tandard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736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caler</a:t>
            </a:r>
            <a:r>
              <a:rPr lang="en-US" sz="2736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 inside a ColumnTransformer pipeline</a:t>
            </a:r>
          </a:p>
          <a:p>
            <a:pPr algn="l">
              <a:lnSpc>
                <a:spcPts val="3065"/>
              </a:lnSpc>
            </a:pPr>
          </a:p>
          <a:p>
            <a:pPr algn="l">
              <a:lnSpc>
                <a:spcPts val="306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67685" y="1538696"/>
            <a:ext cx="14352630" cy="806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127" indent="-292563" lvl="1">
              <a:lnSpc>
                <a:spcPts val="3035"/>
              </a:lnSpc>
              <a:buFont typeface="Arial"/>
              <a:buChar char="•"/>
            </a:pP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Feature creation: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erive risk bins from FRP / composi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index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(Low/Medium/High)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em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oral featur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es: hour, day-of-year, season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atial features: l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at, 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on; opt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ional clustering (re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gion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id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teraction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feature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FRP × 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temper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ture, humidity × wind_speed</a:t>
            </a:r>
          </a:p>
          <a:p>
            <a:pPr algn="l">
              <a:lnSpc>
                <a:spcPts val="3035"/>
              </a:lnSpc>
            </a:pPr>
          </a:p>
          <a:p>
            <a:pPr algn="l" marL="585127" indent="-292563" lvl="1">
              <a:lnSpc>
                <a:spcPts val="3035"/>
              </a:lnSpc>
              <a:buFont typeface="Arial"/>
              <a:buChar char="•"/>
            </a:pP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Pipeline &amp; persiste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nc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e: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il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 p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eprocessing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pipe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line wi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 Co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lumnT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ransformer + Pipel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ine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Fit 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 trainin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 data; save fi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tted s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cal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er, encoder,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nd pipeline with joblib</a:t>
            </a:r>
          </a:p>
          <a:p>
            <a:pPr algn="l" marL="1170253" indent="-390084" lvl="2">
              <a:lnSpc>
                <a:spcPts val="3035"/>
              </a:lnSpc>
              <a:buFont typeface="Arial"/>
              <a:buChar char="⚬"/>
            </a:pP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Ensu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identical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preproc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essing during d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plo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</a:t>
            </a:r>
            <a:r>
              <a:rPr lang="en-US" sz="271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ment</a:t>
            </a: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(Streamlit app)</a:t>
            </a:r>
          </a:p>
          <a:p>
            <a:pPr algn="l">
              <a:lnSpc>
                <a:spcPts val="3035"/>
              </a:lnSpc>
            </a:pPr>
          </a:p>
          <a:p>
            <a:pPr algn="l" marL="585127" indent="-292563" lvl="1">
              <a:lnSpc>
                <a:spcPts val="3035"/>
              </a:lnSpc>
              <a:buFont typeface="Arial"/>
              <a:buChar char="•"/>
            </a:pP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Spatially-aware data splitting: Create geographically disjoint train/test sets to prevent leakage (e.g., cluster coordinates and hold out clusters, or use GroupShuffleSplit with region IDs)</a:t>
            </a:r>
          </a:p>
          <a:p>
            <a:pPr algn="l">
              <a:lnSpc>
                <a:spcPts val="3035"/>
              </a:lnSpc>
            </a:pPr>
          </a:p>
          <a:p>
            <a:pPr algn="l" marL="585127" indent="-292563" lvl="1">
              <a:lnSpc>
                <a:spcPts val="3035"/>
              </a:lnSpc>
              <a:buFont typeface="Arial"/>
              <a:buChar char="•"/>
            </a:pP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Rationale: Neighboring coordinates are correlated; random splits overestimate generalization</a:t>
            </a:r>
          </a:p>
          <a:p>
            <a:pPr algn="l">
              <a:lnSpc>
                <a:spcPts val="3035"/>
              </a:lnSpc>
            </a:pPr>
          </a:p>
          <a:p>
            <a:pPr algn="l" marL="585127" indent="-292563" lvl="1">
              <a:lnSpc>
                <a:spcPts val="3035"/>
              </a:lnSpc>
              <a:buFont typeface="Arial"/>
              <a:buChar char="•"/>
            </a:pPr>
            <a:r>
              <a:rPr lang="en-US" sz="271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Stratification: Stratify splits by target class to preserve class proportions where possible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45515" y="999705"/>
            <a:ext cx="14495524" cy="260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</a:p>
          <a:p>
            <a:pPr algn="ctr">
              <a:lnSpc>
                <a:spcPts val="6736"/>
              </a:lnSpc>
            </a:pPr>
            <a:r>
              <a:rPr lang="en-US" sz="6604" b="tru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Su</a:t>
            </a: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PPORT VECTOR MACHINE (SVM)</a:t>
            </a:r>
          </a:p>
          <a:p>
            <a:pPr algn="ctr">
              <a:lnSpc>
                <a:spcPts val="673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56938" y="3341380"/>
            <a:ext cx="12774124" cy="633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</a:p>
          <a:p>
            <a:pPr algn="l" marL="1135101" indent="-378367" lvl="2">
              <a:lnSpc>
                <a:spcPts val="2944"/>
              </a:lnSpc>
              <a:buFont typeface="Arial"/>
              <a:buChar char="⚬"/>
            </a:pP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Type: Kernel-base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classifier (e.g., RBF kernel)</a:t>
            </a:r>
          </a:p>
          <a:p>
            <a:pPr algn="l">
              <a:lnSpc>
                <a:spcPts val="2944"/>
              </a:lnSpc>
            </a:pPr>
          </a:p>
          <a:p>
            <a:pPr algn="l" marL="1135101" indent="-378367" lvl="2">
              <a:lnSpc>
                <a:spcPts val="2944"/>
              </a:lnSpc>
              <a:buFont typeface="Arial"/>
              <a:buChar char="⚬"/>
            </a:pP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Use: Baseline 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high-ca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ac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cla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ssifier for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abular featur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</a:t>
            </a:r>
          </a:p>
          <a:p>
            <a:pPr algn="l">
              <a:lnSpc>
                <a:spcPts val="2944"/>
              </a:lnSpc>
            </a:pPr>
          </a:p>
          <a:p>
            <a:pPr algn="l" marL="1135101" indent="-378367" lvl="2">
              <a:lnSpc>
                <a:spcPts val="2944"/>
              </a:lnSpc>
              <a:buFont typeface="Arial"/>
              <a:buChar char="⚬"/>
            </a:pP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Pros: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Good deci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sion bou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ary fl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bility; strong when features are well-separate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</a:p>
          <a:p>
            <a:pPr algn="l">
              <a:lnSpc>
                <a:spcPts val="2944"/>
              </a:lnSpc>
            </a:pPr>
          </a:p>
          <a:p>
            <a:pPr algn="l" marL="1135101" indent="-378367" lvl="2">
              <a:lnSpc>
                <a:spcPts val="2944"/>
              </a:lnSpc>
              <a:buFont typeface="Arial"/>
              <a:buChar char="⚬"/>
            </a:pP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Cons: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Sensitive to s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ale, sl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 la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ge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dat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as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s, and 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pron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 l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eakage/overfitting with spatial data</a:t>
            </a:r>
          </a:p>
          <a:p>
            <a:pPr algn="l">
              <a:lnSpc>
                <a:spcPts val="2944"/>
              </a:lnSpc>
            </a:pPr>
          </a:p>
          <a:p>
            <a:pPr algn="l" marL="1135101" indent="-378367" lvl="2">
              <a:lnSpc>
                <a:spcPts val="2944"/>
              </a:lnSpc>
              <a:buFont typeface="Arial"/>
              <a:buChar char="⚬"/>
            </a:pP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Typical settings: C and gamma grid search; standardize in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ts before training</a:t>
            </a:r>
          </a:p>
          <a:p>
            <a:pPr algn="l">
              <a:lnSpc>
                <a:spcPts val="2944"/>
              </a:lnSpc>
            </a:pPr>
          </a:p>
          <a:p>
            <a:pPr algn="l" marL="1135101" indent="-378367" lvl="2">
              <a:lnSpc>
                <a:spcPts val="2944"/>
              </a:lnSpc>
              <a:buFont typeface="Arial"/>
              <a:buChar char="⚬"/>
            </a:pP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Notes fro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project: Achieved v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 h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gh a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curacy (~99.5%) but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like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ly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affec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ed by ta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rg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leakage 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ov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ly easy random spl</a:t>
            </a:r>
            <a:r>
              <a:rPr lang="en-US" sz="262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62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</a:p>
          <a:p>
            <a:pPr algn="l">
              <a:lnSpc>
                <a:spcPts val="2944"/>
              </a:lnSpc>
            </a:pPr>
          </a:p>
          <a:p>
            <a:pPr algn="l">
              <a:lnSpc>
                <a:spcPts val="294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89377" y="3037731"/>
            <a:ext cx="12803218" cy="635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</a:p>
          <a:p>
            <a:pPr algn="l" marL="1137686" indent="-379229" lvl="2">
              <a:lnSpc>
                <a:spcPts val="2950"/>
              </a:lnSpc>
              <a:buFont typeface="Arial"/>
              <a:buChar char="⚬"/>
            </a:pP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ype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 En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semble of decisi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 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tre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(b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gg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ing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</a:t>
            </a:r>
          </a:p>
          <a:p>
            <a:pPr algn="l">
              <a:lnSpc>
                <a:spcPts val="2950"/>
              </a:lnSpc>
            </a:pPr>
          </a:p>
          <a:p>
            <a:pPr algn="l" marL="1137686" indent="-379229" lvl="2">
              <a:lnSpc>
                <a:spcPts val="2950"/>
              </a:lnSpc>
              <a:buFont typeface="Arial"/>
              <a:buChar char="⚬"/>
            </a:pP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Inter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retab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baseline with b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il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t-in featur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mportance</a:t>
            </a:r>
          </a:p>
          <a:p>
            <a:pPr algn="l">
              <a:lnSpc>
                <a:spcPts val="2950"/>
              </a:lnSpc>
            </a:pPr>
          </a:p>
          <a:p>
            <a:pPr algn="l" marL="1137686" indent="-379229" lvl="2">
              <a:lnSpc>
                <a:spcPts val="2950"/>
              </a:lnSpc>
              <a:buFont typeface="Arial"/>
              <a:buChar char="⚬"/>
            </a:pP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Pros: H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dles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non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-lin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rities, robust to noisy features, minimal scaling required</a:t>
            </a:r>
          </a:p>
          <a:p>
            <a:pPr algn="l">
              <a:lnSpc>
                <a:spcPts val="2950"/>
              </a:lnSpc>
            </a:pPr>
          </a:p>
          <a:p>
            <a:pPr algn="l" marL="1137686" indent="-379229" lvl="2">
              <a:lnSpc>
                <a:spcPts val="2950"/>
              </a:lnSpc>
              <a:buFont typeface="Arial"/>
              <a:buChar char="⚬"/>
            </a:pP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Cons: Can underperform gradient-boosted methods on complex patte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rns; may need many trees f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stability</a:t>
            </a:r>
          </a:p>
          <a:p>
            <a:pPr algn="l">
              <a:lnSpc>
                <a:spcPts val="2950"/>
              </a:lnSpc>
            </a:pPr>
          </a:p>
          <a:p>
            <a:pPr algn="l" marL="1137686" indent="-379229" lvl="2">
              <a:lnSpc>
                <a:spcPts val="2950"/>
              </a:lnSpc>
              <a:buFont typeface="Arial"/>
              <a:buChar char="⚬"/>
            </a:pP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Typ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ical settings: number of trees (n_estimators), max depth, class weighting for imbalance</a:t>
            </a:r>
          </a:p>
          <a:p>
            <a:pPr algn="l">
              <a:lnSpc>
                <a:spcPts val="2950"/>
              </a:lnSpc>
            </a:pPr>
          </a:p>
          <a:p>
            <a:pPr algn="l" marL="1137686" indent="-379229" lvl="2">
              <a:lnSpc>
                <a:spcPts val="2950"/>
              </a:lnSpc>
              <a:buFont typeface="Arial"/>
              <a:buChar char="⚬"/>
            </a:pP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Notes from project: Good inter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pret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ab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ity; low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perfor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2634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ance (~77.4% accuracy) relat</a:t>
            </a:r>
            <a:r>
              <a:rPr lang="en-US" sz="2634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ive to XGBoost</a:t>
            </a:r>
          </a:p>
          <a:p>
            <a:pPr algn="l">
              <a:lnSpc>
                <a:spcPts val="29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92213" y="904673"/>
            <a:ext cx="12400381" cy="17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</a:p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RANDOM FOREST CLASSIFIER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56290" y="3101390"/>
            <a:ext cx="13474541" cy="629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</a:p>
          <a:p>
            <a:pPr algn="l" marL="1197339" indent="-399113" lvl="2">
              <a:lnSpc>
                <a:spcPts val="3105"/>
              </a:lnSpc>
              <a:buFont typeface="Arial"/>
              <a:buChar char="⚬"/>
            </a:pP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Type: Gradi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t-boos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ted decisio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</a:p>
          <a:p>
            <a:pPr algn="l">
              <a:lnSpc>
                <a:spcPts val="3105"/>
              </a:lnSpc>
            </a:pPr>
          </a:p>
          <a:p>
            <a:pPr algn="l" marL="1197339" indent="-399113" lvl="2">
              <a:lnSpc>
                <a:spcPts val="3105"/>
              </a:lnSpc>
              <a:buFont typeface="Arial"/>
              <a:buChar char="⚬"/>
            </a:pP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Use: Fi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nal production model for best accuracy and spatial generalization</a:t>
            </a:r>
          </a:p>
          <a:p>
            <a:pPr algn="l">
              <a:lnSpc>
                <a:spcPts val="3105"/>
              </a:lnSpc>
            </a:pPr>
          </a:p>
          <a:p>
            <a:pPr algn="l" marL="1197339" indent="-399113" lvl="2">
              <a:lnSpc>
                <a:spcPts val="3105"/>
              </a:lnSpc>
              <a:buFont typeface="Arial"/>
              <a:buChar char="⚬"/>
            </a:pP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Pros: Excellent predictive performance, handles missing values, captures complex feature interactions, fas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ith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op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timized implemen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tation</a:t>
            </a:r>
          </a:p>
          <a:p>
            <a:pPr algn="l">
              <a:lnSpc>
                <a:spcPts val="3105"/>
              </a:lnSpc>
            </a:pPr>
          </a:p>
          <a:p>
            <a:pPr algn="l" marL="1197339" indent="-399113" lvl="2">
              <a:lnSpc>
                <a:spcPts val="3105"/>
              </a:lnSpc>
              <a:buFont typeface="Arial"/>
              <a:buChar char="⚬"/>
            </a:pP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 M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hyperp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ram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rs to tu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e; risk of 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rfitting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wi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hout p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roper 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CV</a:t>
            </a:r>
          </a:p>
          <a:p>
            <a:pPr algn="l">
              <a:lnSpc>
                <a:spcPts val="3105"/>
              </a:lnSpc>
            </a:pPr>
          </a:p>
          <a:p>
            <a:pPr algn="l" marL="1197339" indent="-399113" lvl="2">
              <a:lnSpc>
                <a:spcPts val="3105"/>
              </a:lnSpc>
              <a:buFont typeface="Arial"/>
              <a:buChar char="⚬"/>
            </a:pP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Typi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cal settings: n_estimators, max_depth, learning_rate, subsample, colsample_bytree, early st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oppi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 on vali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da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tion</a:t>
            </a:r>
          </a:p>
          <a:p>
            <a:pPr algn="l">
              <a:lnSpc>
                <a:spcPts val="3105"/>
              </a:lnSpc>
            </a:pPr>
          </a:p>
          <a:p>
            <a:pPr algn="l" marL="1197339" indent="-399113" lvl="2">
              <a:lnSpc>
                <a:spcPts val="3105"/>
              </a:lnSpc>
              <a:buFont typeface="Arial"/>
              <a:buChar char="⚬"/>
            </a:pP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Notes f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om proje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t: Best over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 — 92.2% accu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772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acy</a:t>
            </a:r>
            <a:r>
              <a:rPr lang="en-US" sz="2772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and F1-macro 0.922; robust under spatial train/test splits, selected for deployment</a:t>
            </a:r>
          </a:p>
          <a:p>
            <a:pPr algn="l">
              <a:lnSpc>
                <a:spcPts val="310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26772" y="776313"/>
            <a:ext cx="9133578" cy="17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</a:p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XGBOOST CLASSIFIER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6297" y="19050"/>
            <a:ext cx="14014168" cy="996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Data Collection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NASA FIRMS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+ APIs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Ingestion &amp;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Check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Parse + Validate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Data Cleaning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Missing + Outliers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Fe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ature Engineering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Temporal + Spatial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Preprocessing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Scale + Encode 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Train/Test Split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Sp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atial Holdout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del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Tr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ainin</a:t>
            </a:r>
            <a:r>
              <a:rPr lang="en-US" sz="156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RF / SVM / XGBoost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Evaluation 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Acc, F1, Confusion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└─────────┬───────────┘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▼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┌─────────────────────┐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Deployment          </a:t>
            </a:r>
          </a:p>
          <a:p>
            <a:pPr algn="ctr">
              <a:lnSpc>
                <a:spcPts val="1756"/>
              </a:lnSpc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Streamlit Web App   </a:t>
            </a:r>
          </a:p>
          <a:p>
            <a:pPr algn="ctr" marL="338626" indent="-169313" lvl="1">
              <a:lnSpc>
                <a:spcPts val="1756"/>
              </a:lnSpc>
              <a:buFont typeface="Arial"/>
              <a:buChar char="•"/>
            </a:pPr>
            <a:r>
              <a:rPr lang="en-US" sz="156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└─────────────────────┘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6292" y="4320717"/>
            <a:ext cx="4045954" cy="17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PROJECT</a:t>
            </a:r>
          </a:p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PIPELINE</a:t>
            </a: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2721" y="1448643"/>
            <a:ext cx="15622558" cy="8328966"/>
          </a:xfrm>
          <a:custGeom>
            <a:avLst/>
            <a:gdLst/>
            <a:ahLst/>
            <a:cxnLst/>
            <a:rect r="r" b="b" t="t" l="l"/>
            <a:pathLst>
              <a:path h="8328966" w="15622558">
                <a:moveTo>
                  <a:pt x="0" y="0"/>
                </a:moveTo>
                <a:lnTo>
                  <a:pt x="15622558" y="0"/>
                </a:lnTo>
                <a:lnTo>
                  <a:pt x="15622558" y="8328966"/>
                </a:lnTo>
                <a:lnTo>
                  <a:pt x="0" y="8328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0871" y="493307"/>
            <a:ext cx="3789258" cy="75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b="true" sz="5529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PREVIEW</a:t>
            </a:r>
            <a:r>
              <a:rPr lang="en-US" b="true" sz="5529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48422" y="226359"/>
            <a:ext cx="11851476" cy="122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9"/>
              </a:lnSpc>
            </a:pPr>
          </a:p>
          <a:p>
            <a:pPr algn="l">
              <a:lnSpc>
                <a:spcPts val="2439"/>
              </a:lnSpc>
            </a:pPr>
            <a:r>
              <a:rPr lang="en-US" sz="217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Deployed via Streamlit</a:t>
            </a:r>
          </a:p>
          <a:p>
            <a:pPr algn="l">
              <a:lnSpc>
                <a:spcPts val="2439"/>
              </a:lnSpc>
            </a:pPr>
            <a:r>
              <a:rPr lang="en-US" sz="217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Link: https://wildlife-risk-classification-hmhgxew5ym8wycpsdoegi8.streamlit.app/</a:t>
            </a:r>
          </a:p>
          <a:p>
            <a:pPr algn="l">
              <a:lnSpc>
                <a:spcPts val="24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9348" y="3541479"/>
            <a:ext cx="15104442" cy="5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42170" indent="-447390" lvl="2">
              <a:lnSpc>
                <a:spcPts val="3481"/>
              </a:lnSpc>
              <a:buFont typeface="Arial"/>
              <a:buChar char="⚬"/>
            </a:pP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SVM — Accurac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y: 99.5% | F1‑Macro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 0.995 — 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likely tar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et le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akag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/ over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ly easy random split</a:t>
            </a:r>
          </a:p>
          <a:p>
            <a:pPr algn="l">
              <a:lnSpc>
                <a:spcPts val="3481"/>
              </a:lnSpc>
            </a:pPr>
          </a:p>
          <a:p>
            <a:pPr algn="l" marL="1342170" indent="-447390" lvl="2">
              <a:lnSpc>
                <a:spcPts val="3481"/>
              </a:lnSpc>
              <a:buFont typeface="Arial"/>
              <a:buChar char="⚬"/>
            </a:pP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Random Forest — Accuracy: 77.4% | F1‑Macro: 0.74 — Interpretable baseline, lower predictive power</a:t>
            </a:r>
          </a:p>
          <a:p>
            <a:pPr algn="l">
              <a:lnSpc>
                <a:spcPts val="3481"/>
              </a:lnSpc>
            </a:pPr>
          </a:p>
          <a:p>
            <a:pPr algn="l" marL="1342170" indent="-447390" lvl="2">
              <a:lnSpc>
                <a:spcPts val="3481"/>
              </a:lnSpc>
              <a:buFont typeface="Arial"/>
              <a:buChar char="⚬"/>
            </a:pP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XGBoost — Accuracy: 92.2% | F1‑Macro: 0.922 — Best balance of accuracy and ro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bus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tness</a:t>
            </a:r>
          </a:p>
          <a:p>
            <a:pPr algn="l">
              <a:lnSpc>
                <a:spcPts val="3481"/>
              </a:lnSpc>
            </a:pPr>
          </a:p>
          <a:p>
            <a:pPr algn="l" marL="671085" indent="-335542" lvl="1">
              <a:lnSpc>
                <a:spcPts val="3481"/>
              </a:lnSpc>
              <a:buFont typeface="Arial"/>
              <a:buChar char="•"/>
            </a:pP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Key takeaway: XGBoost 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ai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nt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ains 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high,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balan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ce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rma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310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10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while Random Forest underfits and SVM’s near-perfect score is suspicious.</a:t>
            </a:r>
          </a:p>
          <a:p>
            <a:pPr algn="l">
              <a:lnSpc>
                <a:spcPts val="348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086358" y="776313"/>
            <a:ext cx="8614406" cy="17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</a:p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MODEL EVALUATION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89" y="3082860"/>
            <a:ext cx="6006884" cy="4452910"/>
          </a:xfrm>
          <a:custGeom>
            <a:avLst/>
            <a:gdLst/>
            <a:ahLst/>
            <a:cxnLst/>
            <a:rect r="r" b="b" t="t" l="l"/>
            <a:pathLst>
              <a:path h="4452910" w="6006884">
                <a:moveTo>
                  <a:pt x="0" y="0"/>
                </a:moveTo>
                <a:lnTo>
                  <a:pt x="6006884" y="0"/>
                </a:lnTo>
                <a:lnTo>
                  <a:pt x="6006884" y="4452910"/>
                </a:lnTo>
                <a:lnTo>
                  <a:pt x="0" y="445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44220" y="3040109"/>
            <a:ext cx="5191961" cy="4542966"/>
          </a:xfrm>
          <a:custGeom>
            <a:avLst/>
            <a:gdLst/>
            <a:ahLst/>
            <a:cxnLst/>
            <a:rect r="r" b="b" t="t" l="l"/>
            <a:pathLst>
              <a:path h="4542966" w="5191961">
                <a:moveTo>
                  <a:pt x="0" y="0"/>
                </a:moveTo>
                <a:lnTo>
                  <a:pt x="5191961" y="0"/>
                </a:lnTo>
                <a:lnTo>
                  <a:pt x="5191961" y="4542966"/>
                </a:lnTo>
                <a:lnTo>
                  <a:pt x="0" y="4542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96774" y="3087414"/>
            <a:ext cx="5494452" cy="4448355"/>
          </a:xfrm>
          <a:custGeom>
            <a:avLst/>
            <a:gdLst/>
            <a:ahLst/>
            <a:cxnLst/>
            <a:rect r="r" b="b" t="t" l="l"/>
            <a:pathLst>
              <a:path h="4448355" w="5494452">
                <a:moveTo>
                  <a:pt x="0" y="0"/>
                </a:moveTo>
                <a:lnTo>
                  <a:pt x="5494452" y="0"/>
                </a:lnTo>
                <a:lnTo>
                  <a:pt x="5494452" y="4448356"/>
                </a:lnTo>
                <a:lnTo>
                  <a:pt x="0" y="4448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0387" y="1114425"/>
            <a:ext cx="10207226" cy="75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5529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CONFUSION MATRICES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9489" y="2380780"/>
            <a:ext cx="13709023" cy="636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 marL="609087" indent="-304544" lvl="1">
              <a:lnSpc>
                <a:spcPts val="3159"/>
              </a:lnSpc>
              <a:buFont typeface="Arial"/>
              <a:buChar char="•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Project outcome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 Built a reproducib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le pipeline to predict wildfire ris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 (Low / M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edium / High) using NASA FIRMS sate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llite and meteorological data.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Best mo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del: XGBoost chosen for production — 92.2% accuracy and 0.922 F1‑Macro, with good spatial generalization.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Reliability note: SVM’s near-perfect accuracy likely indicates data leakage; spatial train/test splits produce more realistic evaluation.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Limitations: Data limit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ed to FIRMS, class imbalance, and static models (no streami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g/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emporal retr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aining).</a:t>
            </a:r>
          </a:p>
          <a:p>
            <a:pPr algn="l">
              <a:lnSpc>
                <a:spcPts val="3159"/>
              </a:lnSpc>
            </a:pPr>
          </a:p>
          <a:p>
            <a:pPr algn="l" marL="609087" indent="-304544" lvl="1">
              <a:lnSpc>
                <a:spcPts val="3159"/>
              </a:lnSpc>
              <a:buFont typeface="Arial"/>
              <a:buChar char="•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Next steps: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Integrate l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ve weat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feeds and re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-time s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tellite i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estion.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Ad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tem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oral mod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els (LSTM/CNN) 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 spread prediction.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Improv</a:t>
            </a:r>
            <a:r>
              <a:rPr lang="en-US" sz="2821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spatial visualization (Folium/Kepler.gl) and mobile delivery.</a:t>
            </a:r>
          </a:p>
          <a:p>
            <a:pPr algn="l" marL="1218174" indent="-406058" lvl="2">
              <a:lnSpc>
                <a:spcPts val="3159"/>
              </a:lnSpc>
              <a:buFont typeface="Arial"/>
              <a:buChar char="⚬"/>
            </a:pPr>
            <a:r>
              <a:rPr lang="en-US" sz="2821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Establish continuous retraining + monitoring for model drift.</a:t>
            </a:r>
          </a:p>
          <a:p>
            <a:pPr algn="l">
              <a:lnSpc>
                <a:spcPts val="31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786119" y="1328761"/>
            <a:ext cx="5784593" cy="8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</a:pPr>
            <a:r>
              <a:rPr lang="en-US" b="true" sz="660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CONCLUSION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36148" y="3528137"/>
            <a:ext cx="10955570" cy="344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53"/>
              </a:lnSpc>
            </a:pPr>
            <a:r>
              <a:rPr lang="en-US" b="true" sz="129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THANK</a:t>
            </a:r>
          </a:p>
          <a:p>
            <a:pPr algn="ctr">
              <a:lnSpc>
                <a:spcPts val="13253"/>
              </a:lnSpc>
            </a:pPr>
            <a:r>
              <a:rPr lang="en-US" b="true" sz="12993" strike="noStrike" u="non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DAHJqceVPFQ</dc:identifier>
  <dcterms:modified xsi:type="dcterms:W3CDTF">2011-08-01T06:04:30Z</dcterms:modified>
  <cp:revision>1</cp:revision>
  <dc:title>Wildfire_Risk_Class_PPT</dc:title>
</cp:coreProperties>
</file>